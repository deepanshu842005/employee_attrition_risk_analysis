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6118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Employee Burnout &amp; Attrition Risk Analytics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0274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data-driven approach to identifying employees at high risk of leaving — and quantifying the financial impact before it's too late.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15841"/>
            <a:ext cx="2032322" cy="266402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558332"/>
            <a:ext cx="18622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· POSTGRESQL · POWER BI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599283" y="3515841"/>
            <a:ext cx="997818" cy="266402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8" name="Text 5"/>
          <p:cNvSpPr/>
          <p:nvPr/>
        </p:nvSpPr>
        <p:spPr>
          <a:xfrm>
            <a:off x="2684338" y="3558332"/>
            <a:ext cx="8277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DEEPANSHU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33152"/>
            <a:ext cx="25473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797942"/>
            <a:ext cx="703071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traditional HR analysis, this system uses </a:t>
            </a:r>
            <a:pPr algn="l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burnout-driven behavioural patterns and predictive modelling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identify attrition risk early — following a structured 3-stage pipeline.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745" y="1160413"/>
            <a:ext cx="6272361" cy="3427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2879" y="2766371"/>
            <a:ext cx="1453343" cy="19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32818" y="2645204"/>
            <a:ext cx="1453343" cy="39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Management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40032" y="2652344"/>
            <a:ext cx="1453343" cy="39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05" y="4670227"/>
            <a:ext cx="70307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phase converts raw employee data into actionable risk intelligence for HR teams.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87995"/>
            <a:ext cx="428260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Dashboard at a Glance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1069553"/>
            <a:ext cx="5273278" cy="294754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4132" y="4139133"/>
            <a:ext cx="5273278" cy="485105"/>
          </a:xfrm>
          <a:prstGeom prst="roundRect">
            <a:avLst>
              <a:gd name="adj" fmla="val 3836"/>
            </a:avLst>
          </a:prstGeom>
          <a:solidFill>
            <a:srgbClr val="FCF2B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05" y="4323680"/>
            <a:ext cx="155004" cy="1239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7084" y="4278585"/>
            <a:ext cx="474635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Burnout &gt; 60 → High Attrition Risk (18M+ Impact)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014740" y="104678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014740" y="1362670"/>
            <a:ext cx="2699817" cy="736327"/>
          </a:xfrm>
          <a:prstGeom prst="roundRect">
            <a:avLst>
              <a:gd name="adj" fmla="val 2527"/>
            </a:avLst>
          </a:prstGeom>
          <a:solidFill>
            <a:srgbClr val="EAE8F3"/>
          </a:solidFill>
          <a:ln/>
        </p:spPr>
      </p:sp>
      <p:sp>
        <p:nvSpPr>
          <p:cNvPr id="9" name="Text 5"/>
          <p:cNvSpPr/>
          <p:nvPr/>
        </p:nvSpPr>
        <p:spPr>
          <a:xfrm>
            <a:off x="6138714" y="148664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1.47K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38714" y="1788988"/>
            <a:ext cx="2451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Employees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014740" y="2207493"/>
            <a:ext cx="2699817" cy="736327"/>
          </a:xfrm>
          <a:prstGeom prst="roundRect">
            <a:avLst>
              <a:gd name="adj" fmla="val 2527"/>
            </a:avLst>
          </a:prstGeom>
          <a:solidFill>
            <a:srgbClr val="EAE8F3"/>
          </a:solidFill>
          <a:ln/>
        </p:spPr>
      </p:sp>
      <p:sp>
        <p:nvSpPr>
          <p:cNvPr id="12" name="Text 8"/>
          <p:cNvSpPr/>
          <p:nvPr/>
        </p:nvSpPr>
        <p:spPr>
          <a:xfrm>
            <a:off x="6138714" y="233146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87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138714" y="2633811"/>
            <a:ext cx="2451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Risk Employees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14740" y="3052316"/>
            <a:ext cx="2699817" cy="736327"/>
          </a:xfrm>
          <a:prstGeom prst="roundRect">
            <a:avLst>
              <a:gd name="adj" fmla="val 2527"/>
            </a:avLst>
          </a:prstGeom>
          <a:solidFill>
            <a:srgbClr val="EAE8F3"/>
          </a:solidFill>
          <a:ln/>
        </p:spPr>
      </p:sp>
      <p:sp>
        <p:nvSpPr>
          <p:cNvPr id="15" name="Text 11"/>
          <p:cNvSpPr/>
          <p:nvPr/>
        </p:nvSpPr>
        <p:spPr>
          <a:xfrm>
            <a:off x="6138714" y="317629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43.9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38714" y="3478634"/>
            <a:ext cx="2451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Burnout Score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14740" y="3897139"/>
            <a:ext cx="2699817" cy="736327"/>
          </a:xfrm>
          <a:prstGeom prst="roundRect">
            <a:avLst>
              <a:gd name="adj" fmla="val 2527"/>
            </a:avLst>
          </a:prstGeom>
          <a:solidFill>
            <a:srgbClr val="EAE8F3"/>
          </a:solidFill>
          <a:ln/>
        </p:spPr>
      </p:sp>
      <p:sp>
        <p:nvSpPr>
          <p:cNvPr id="18" name="Text 14"/>
          <p:cNvSpPr/>
          <p:nvPr/>
        </p:nvSpPr>
        <p:spPr>
          <a:xfrm>
            <a:off x="6138714" y="402111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€18.25M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138714" y="4323457"/>
            <a:ext cx="2451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at Risk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580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6231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93851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Jupyter Notebook (Python 3.x)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2181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cleaning, feature engineering, and predictive modelling using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Pandas, NumPy, and Scikit-learn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6231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593851"/>
            <a:ext cx="22438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PostgreSQL (pgAdmin 4)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900363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storage of processed dataset. SQL used for risk-based filtering, department analysis, and validation.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62311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5938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Desktop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900363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 with KPI cards, risk distribution visuals, and department analysis. DAX for dynamic calculations.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423865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&amp;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087389"/>
            <a:ext cx="194473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IBM HR Employee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353866"/>
            <a:ext cx="37596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~1,470 employees</a:t>
            </a:r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individual granularity. Key burnout features: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74489" y="2597200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 hours &amp; meetings per week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Leave balance &amp; engagement score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Target: Attrition (Yes/No)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74489" y="3228231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Employees categorized as: </a:t>
            </a:r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Risk · Overworked · Flight Risk · Critical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65001"/>
            <a:ext cx="569453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Visuals: Risk Distribution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1020440"/>
            <a:ext cx="2064321" cy="16915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641" y="1020440"/>
            <a:ext cx="2071092" cy="169917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834" y="1020440"/>
            <a:ext cx="2651150" cy="218323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6393" y="3439120"/>
            <a:ext cx="2693938" cy="1040383"/>
          </a:xfrm>
          <a:prstGeom prst="roundRect">
            <a:avLst>
              <a:gd name="adj" fmla="val 1757"/>
            </a:avLst>
          </a:prstGeom>
          <a:solidFill>
            <a:srgbClr val="EAE8F3"/>
          </a:solidFill>
          <a:ln/>
        </p:spPr>
      </p:sp>
      <p:sp>
        <p:nvSpPr>
          <p:cNvPr id="7" name="Text 2"/>
          <p:cNvSpPr/>
          <p:nvPr/>
        </p:nvSpPr>
        <p:spPr>
          <a:xfrm>
            <a:off x="548208" y="3560936"/>
            <a:ext cx="213293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Burnout Score Distribution</a:t>
            </a:r>
            <a:endParaRPr lang="en-US" sz="1150" dirty="0"/>
          </a:p>
        </p:txBody>
      </p:sp>
      <p:sp>
        <p:nvSpPr>
          <p:cNvPr id="8" name="Text 3"/>
          <p:cNvSpPr/>
          <p:nvPr/>
        </p:nvSpPr>
        <p:spPr>
          <a:xfrm>
            <a:off x="548208" y="3814093"/>
            <a:ext cx="245030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Majority fall in the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40–60 range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 noticeable portion exceeds 60, where attrition risk sharply increases.</a:t>
            </a:r>
            <a:endParaRPr lang="en-US" sz="950" dirty="0"/>
          </a:p>
        </p:txBody>
      </p:sp>
      <p:sp>
        <p:nvSpPr>
          <p:cNvPr id="9" name="Shape 4"/>
          <p:cNvSpPr/>
          <p:nvPr/>
        </p:nvSpPr>
        <p:spPr>
          <a:xfrm>
            <a:off x="3224957" y="3439120"/>
            <a:ext cx="2694012" cy="1040383"/>
          </a:xfrm>
          <a:prstGeom prst="roundRect">
            <a:avLst>
              <a:gd name="adj" fmla="val 1757"/>
            </a:avLst>
          </a:prstGeom>
          <a:solidFill>
            <a:srgbClr val="EAE8F3"/>
          </a:solidFill>
          <a:ln/>
        </p:spPr>
      </p:sp>
      <p:sp>
        <p:nvSpPr>
          <p:cNvPr id="10" name="Text 5"/>
          <p:cNvSpPr/>
          <p:nvPr/>
        </p:nvSpPr>
        <p:spPr>
          <a:xfrm>
            <a:off x="3346772" y="3560936"/>
            <a:ext cx="216522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Employee Risk Distribution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346772" y="3814093"/>
            <a:ext cx="245038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81.9%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Low Risk ·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11.29%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Overworked ·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5.92%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Critical · Flight Risk minimal.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023595" y="3439120"/>
            <a:ext cx="2694012" cy="1040383"/>
          </a:xfrm>
          <a:prstGeom prst="roundRect">
            <a:avLst>
              <a:gd name="adj" fmla="val 1757"/>
            </a:avLst>
          </a:prstGeom>
          <a:solidFill>
            <a:srgbClr val="EAE8F3"/>
          </a:solidFill>
          <a:ln/>
        </p:spPr>
      </p:sp>
      <p:sp>
        <p:nvSpPr>
          <p:cNvPr id="13" name="Text 8"/>
          <p:cNvSpPr/>
          <p:nvPr/>
        </p:nvSpPr>
        <p:spPr>
          <a:xfrm>
            <a:off x="6145411" y="3560936"/>
            <a:ext cx="194458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Attrition Risk vs Burnout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145411" y="3814093"/>
            <a:ext cx="2450381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rises slowly until burnout ~50, then increases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almost exponentially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beyond 60.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26393" y="4597226"/>
            <a:ext cx="8291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7474"/>
            <a:ext cx="428372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Attrition by Department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371749"/>
            <a:ext cx="2534245" cy="1496095"/>
          </a:xfrm>
          <a:prstGeom prst="roundRect">
            <a:avLst>
              <a:gd name="adj" fmla="val 6112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40" y="1352699"/>
            <a:ext cx="2534245" cy="76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85" y="1165771"/>
            <a:ext cx="411956" cy="4119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5387" y="1268760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89397" y="171502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6984" y="2062535"/>
            <a:ext cx="222155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department (~828 employees) with notable attrition cases.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147864" y="1371749"/>
            <a:ext cx="2534245" cy="1496095"/>
          </a:xfrm>
          <a:prstGeom prst="roundRect">
            <a:avLst>
              <a:gd name="adj" fmla="val 6112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864" y="1352699"/>
            <a:ext cx="2534245" cy="762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008" y="1165771"/>
            <a:ext cx="411956" cy="4119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32610" y="1268760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3556620" y="171502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304208" y="2062535"/>
            <a:ext cx="222155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attrition </a:t>
            </a:r>
            <a:pPr algn="ctr" indent="0" marL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proportion</a:t>
            </a:r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relative to size — indicating pressure-driven exits.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80640" y="3206800"/>
            <a:ext cx="5201469" cy="1063451"/>
          </a:xfrm>
          <a:prstGeom prst="roundRect">
            <a:avLst>
              <a:gd name="adj" fmla="val 8598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40" y="3187750"/>
            <a:ext cx="5201469" cy="762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5359" y="3000821"/>
            <a:ext cx="411956" cy="4119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998961" y="3103811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1"/>
          <p:cNvSpPr/>
          <p:nvPr/>
        </p:nvSpPr>
        <p:spPr>
          <a:xfrm>
            <a:off x="2223046" y="3550072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Human Resources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36984" y="3897585"/>
            <a:ext cx="488878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attrition, suggesting lower workload or better work-life balance.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480640" y="4419898"/>
            <a:ext cx="52014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1884" y="1792635"/>
            <a:ext cx="2646164" cy="2186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5931"/>
            <a:ext cx="53622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High-Risk Employee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243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Employees with high attrition probability, high salary, and high revenue risk are clearly identified — majority fall under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category.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5533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89" y="2100114"/>
            <a:ext cx="6911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22227" y="2100114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62101" y="2100114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01976" y="2100114"/>
            <a:ext cx="11773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Risk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67561" y="2100114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07435" y="2100114"/>
            <a:ext cx="1993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89" y="2511326"/>
            <a:ext cx="6911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2227" y="2511326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98.35%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62101" y="2511326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234,540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1976" y="2511326"/>
            <a:ext cx="11773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2,30,677.84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67561" y="2511326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07435" y="2511326"/>
            <a:ext cx="1993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HR intervention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89" y="2922538"/>
            <a:ext cx="6911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1038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22227" y="2922538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87.30%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62101" y="2922538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238,140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01976" y="2922538"/>
            <a:ext cx="11773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2,07,903.29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67561" y="2922538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7435" y="2922538"/>
            <a:ext cx="1993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HR intervention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789" y="3333750"/>
            <a:ext cx="6911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787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22227" y="3333750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86.37%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62101" y="3333750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238,308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01976" y="3333750"/>
            <a:ext cx="11773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2,05,822.85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67561" y="3333750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07435" y="3333750"/>
            <a:ext cx="1993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HR intervention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2789" y="3744962"/>
            <a:ext cx="6911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22227" y="3744962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78.70%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62101" y="3744962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233,028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01976" y="3744962"/>
            <a:ext cx="11773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1,83,403.25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67561" y="3744962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Overworked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07435" y="3744962"/>
            <a:ext cx="1993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workload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789" y="4156174"/>
            <a:ext cx="6911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1372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22227" y="4156174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96.19%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62101" y="4156174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164,340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01976" y="4156174"/>
            <a:ext cx="11773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1,58,081.24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67561" y="4156174"/>
            <a:ext cx="851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07435" y="4156174"/>
            <a:ext cx="1993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HR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4219649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896987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5930" y="911275"/>
            <a:ext cx="469553" cy="675829"/>
          </a:xfrm>
          <a:prstGeom prst="roundRect">
            <a:avLst>
              <a:gd name="adj" fmla="val 99"/>
            </a:avLst>
          </a:prstGeom>
          <a:solidFill>
            <a:srgbClr val="EAE8F3"/>
          </a:solidFill>
          <a:ln/>
        </p:spPr>
      </p:sp>
      <p:sp>
        <p:nvSpPr>
          <p:cNvPr id="5" name="Text 3"/>
          <p:cNvSpPr/>
          <p:nvPr/>
        </p:nvSpPr>
        <p:spPr>
          <a:xfrm>
            <a:off x="682675" y="113913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02668" y="1028626"/>
            <a:ext cx="174367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Early Risk Intervention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2668" y="1270322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 burnout score ≥ 60 as priority. Set automated HR alerts.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643" y="1698575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5930" y="1712863"/>
            <a:ext cx="469553" cy="675829"/>
          </a:xfrm>
          <a:prstGeom prst="roundRect">
            <a:avLst>
              <a:gd name="adj" fmla="val 99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682675" y="194071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2668" y="1830214"/>
            <a:ext cx="166605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High-Risk First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02668" y="2071911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1:1 HR intervention (Critical) · Workload correction (Overworked) · Retention offer (Flight Risk)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643" y="2500164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930" y="2514451"/>
            <a:ext cx="469553" cy="675829"/>
          </a:xfrm>
          <a:prstGeom prst="roundRect">
            <a:avLst>
              <a:gd name="adj" fmla="val 99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682675" y="274230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02668" y="2631802"/>
            <a:ext cx="197658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Department Optimization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02668" y="2873499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Sales &amp; Research: rebalance workload, reduce overtime, improve team distribution.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643" y="3301752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930" y="3316039"/>
            <a:ext cx="469553" cy="675829"/>
          </a:xfrm>
          <a:prstGeom prst="roundRect">
            <a:avLst>
              <a:gd name="adj" fmla="val 99"/>
            </a:avLst>
          </a:prstGeom>
          <a:solidFill>
            <a:srgbClr val="EAE8F3"/>
          </a:solidFill>
          <a:ln/>
        </p:spPr>
      </p:sp>
      <p:sp>
        <p:nvSpPr>
          <p:cNvPr id="20" name="Text 18"/>
          <p:cNvSpPr/>
          <p:nvPr/>
        </p:nvSpPr>
        <p:spPr>
          <a:xfrm>
            <a:off x="682675" y="3543895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02668" y="3433390"/>
            <a:ext cx="178541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02668" y="3675087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dashboard into monthly HR reviews. Track burnout trends and revenue at risk.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643" y="4103340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930" y="4117628"/>
            <a:ext cx="469553" cy="675829"/>
          </a:xfrm>
          <a:prstGeom prst="roundRect">
            <a:avLst>
              <a:gd name="adj" fmla="val 99"/>
            </a:avLst>
          </a:prstGeom>
          <a:solidFill>
            <a:srgbClr val="EAE8F3"/>
          </a:solidFill>
          <a:ln/>
        </p:spPr>
      </p:sp>
      <p:sp>
        <p:nvSpPr>
          <p:cNvPr id="25" name="Text 23"/>
          <p:cNvSpPr/>
          <p:nvPr/>
        </p:nvSpPr>
        <p:spPr>
          <a:xfrm>
            <a:off x="682675" y="434548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02668" y="423497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Retention &amp; Policy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02668" y="4476676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Incentives + career growth for high-value talent. Limit meetings, enforce work-hour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13655"/>
            <a:ext cx="27688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886867"/>
            <a:ext cx="3845644" cy="38456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1199" y="168421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1199" y="1943695"/>
            <a:ext cx="273650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Burnout is a strong predictor of attrition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risk rises sharply beyond a threshold level.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1199" y="2337048"/>
            <a:ext cx="273650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combining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· SQL · Power BI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this system: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1199" y="2572643"/>
            <a:ext cx="2736503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employees at high attrition risk</a:t>
            </a:r>
            <a:endParaRPr lang="en-US" sz="85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Quantifies financial impact (€18M+)</a:t>
            </a:r>
            <a:endParaRPr lang="en-US" sz="85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actionable HR recommendations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661199" y="3203674"/>
            <a:ext cx="2736503" cy="720626"/>
          </a:xfrm>
          <a:prstGeom prst="roundRect">
            <a:avLst>
              <a:gd name="adj" fmla="val 2305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927" y="3364260"/>
            <a:ext cx="138410" cy="1107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21065" y="3317825"/>
            <a:ext cx="2265908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Shifts HR from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reactive → proactive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reducing attrition before it impacts business performance.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2026-05-06T07:42:27Z</dcterms:created>
  <dcterms:modified xsi:type="dcterms:W3CDTF">2026-05-06T07:42:27Z</dcterms:modified>
</cp:coreProperties>
</file>